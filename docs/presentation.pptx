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6152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61520" cy="6858000"/>
          </a:xfrm>
          <a:prstGeom prst="rect">
            <a:avLst/>
          </a:prstGeom>
          <a:solidFill>
            <a:srgbClr val="0E1B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822960" y="1051560"/>
            <a:ext cx="2286000" cy="457200"/>
          </a:xfrm>
          <a:prstGeom prst="roundRect">
            <a:avLst>
              <a:gd name="adj" fmla="val 50000"/>
            </a:avLst>
          </a:prstGeom>
          <a:solidFill>
            <a:srgbClr val="16264A"/>
          </a:solidFill>
          <a:ln w="12700">
            <a:solidFill>
              <a:srgbClr val="18B8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051560"/>
            <a:ext cx="22860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 i="0">
                <a:solidFill>
                  <a:srgbClr val="18B8C4"/>
                </a:solidFill>
                <a:latin typeface="Calibri"/>
              </a:rPr>
              <a:t>ТРЕК 3 · РОБОЗОН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783080"/>
            <a:ext cx="8412480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3800" b="1" i="0">
                <a:solidFill>
                  <a:srgbClr val="FFFFFF"/>
                </a:solidFill>
                <a:latin typeface="Cambria"/>
              </a:rPr>
              <a:t>Интеллектуальная роботизированная</a:t>
            </a:r>
          </a:p>
          <a:p>
            <a:pPr algn="l">
              <a:lnSpc>
                <a:spcPct val="102000"/>
              </a:lnSpc>
            </a:pPr>
            <a:r>
              <a:rPr sz="3800" b="1" i="0">
                <a:solidFill>
                  <a:srgbClr val="FFFFFF"/>
                </a:solidFill>
                <a:latin typeface="Cambria"/>
              </a:rPr>
              <a:t>система сортировки товаров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794760"/>
            <a:ext cx="813816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 i="0">
                <a:solidFill>
                  <a:srgbClr val="C7D3E6"/>
                </a:solidFill>
                <a:latin typeface="Calibri"/>
              </a:rPr>
              <a:t>Программно-аппаратный комплекс предварительной сортировки: измеряет геометрию товара, применяет формальные правила постановки и физически маршрутизирует его в зону обработки.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281160" y="1417320"/>
            <a:ext cx="2148840" cy="1024128"/>
          </a:xfrm>
          <a:prstGeom prst="roundRect">
            <a:avLst>
              <a:gd name="adj" fmla="val 10000"/>
            </a:avLst>
          </a:prstGeom>
          <a:solidFill>
            <a:srgbClr val="1626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418320" y="1508760"/>
            <a:ext cx="1874519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8B8C4"/>
                </a:solidFill>
                <a:latin typeface="Cambria"/>
              </a:rPr>
              <a:t>11/11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418320" y="2075688"/>
            <a:ext cx="1874519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9FB0C9"/>
                </a:solidFill>
                <a:latin typeface="Calibri"/>
              </a:rPr>
              <a:t>классификация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281160" y="2587752"/>
            <a:ext cx="2148840" cy="1024128"/>
          </a:xfrm>
          <a:prstGeom prst="roundRect">
            <a:avLst>
              <a:gd name="adj" fmla="val 10000"/>
            </a:avLst>
          </a:prstGeom>
          <a:solidFill>
            <a:srgbClr val="1626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418320" y="2679192"/>
            <a:ext cx="1874519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8B8C4"/>
                </a:solidFill>
                <a:latin typeface="Cambria"/>
              </a:rPr>
              <a:t>11/11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418320" y="3246120"/>
            <a:ext cx="1874519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9FB0C9"/>
                </a:solidFill>
                <a:latin typeface="Calibri"/>
              </a:rPr>
              <a:t>RGB-D восприятие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281160" y="3758184"/>
            <a:ext cx="2148840" cy="1024128"/>
          </a:xfrm>
          <a:prstGeom prst="roundRect">
            <a:avLst>
              <a:gd name="adj" fmla="val 10000"/>
            </a:avLst>
          </a:prstGeom>
          <a:solidFill>
            <a:srgbClr val="1626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418320" y="3849624"/>
            <a:ext cx="1874519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8B8C4"/>
                </a:solidFill>
                <a:latin typeface="Cambria"/>
              </a:rPr>
              <a:t>5.3 с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418320" y="4416552"/>
            <a:ext cx="1874519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9FB0C9"/>
                </a:solidFill>
                <a:latin typeface="Calibri"/>
              </a:rPr>
              <a:t>cycle time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281160" y="4928616"/>
            <a:ext cx="2148840" cy="1024128"/>
          </a:xfrm>
          <a:prstGeom prst="roundRect">
            <a:avLst>
              <a:gd name="adj" fmla="val 10000"/>
            </a:avLst>
          </a:prstGeom>
          <a:solidFill>
            <a:srgbClr val="1626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418320" y="5020055"/>
            <a:ext cx="1874519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8B8C4"/>
                </a:solidFill>
                <a:latin typeface="Cambria"/>
              </a:rPr>
              <a:t>35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418320" y="5586983"/>
            <a:ext cx="1874519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9FB0C9"/>
                </a:solidFill>
                <a:latin typeface="Calibri"/>
              </a:rPr>
              <a:t>юнит-тестов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" y="617220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9FB0C9"/>
                </a:solidFill>
                <a:latin typeface="Calibri"/>
              </a:rPr>
              <a:t>Команда tehnosvalka_802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61520" cy="6858000"/>
          </a:xfrm>
          <a:prstGeom prst="rect">
            <a:avLst/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400" b="1" i="0">
                <a:solidFill>
                  <a:srgbClr val="1B2A4A"/>
                </a:solidFill>
                <a:latin typeface="Cambria"/>
              </a:rPr>
              <a:t>Задача и наш подход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43000"/>
            <a:ext cx="109728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 i="0">
                <a:solidFill>
                  <a:srgbClr val="1B2A4A"/>
                </a:solidFill>
                <a:latin typeface="Calibri"/>
              </a:rPr>
              <a:t>Участок перед основным сортировщиком: товары идут по конвейеру (1 м/с) и накапливаются в конце. ПАК должен определить класс товара и физически направить его в нужный поток.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2057400"/>
            <a:ext cx="5120640" cy="41605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E4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2286000"/>
            <a:ext cx="4572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2D7DD2"/>
                </a:solidFill>
                <a:latin typeface="Calibri"/>
              </a:rPr>
              <a:t>Ключевая идея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788920"/>
            <a:ext cx="4572000" cy="3383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700"/>
              </a:spcAft>
            </a:pPr>
            <a:r>
              <a:rPr sz="1600" b="1" i="0">
                <a:solidFill>
                  <a:srgbClr val="1B2A4A"/>
                </a:solidFill>
                <a:latin typeface="Calibri"/>
              </a:rPr>
              <a:t>Классификация — это геометрия, а не семантика.</a:t>
            </a:r>
          </a:p>
          <a:p>
            <a:pPr algn="l">
              <a:spcAft>
                <a:spcPts val="700"/>
              </a:spcAft>
            </a:pPr>
            <a:r>
              <a:rPr sz="1350" b="0" i="0">
                <a:solidFill>
                  <a:srgbClr val="1B2A4A"/>
                </a:solidFill>
                <a:latin typeface="Calibri"/>
              </a:rPr>
              <a:t>Мы не распознаём «бутылку» или «коробку». Мы измеряем ровно то, что требует постановка: габариты и форму сечения. Поэтому решение:</a:t>
            </a:r>
          </a:p>
          <a:p>
            <a:pPr algn="l">
              <a:spcAft>
                <a:spcPts val="700"/>
              </a:spcAft>
              <a:buChar char="•"/>
            </a:pPr>
            <a:r>
              <a:rPr sz="1300" b="0" i="0">
                <a:solidFill>
                  <a:srgbClr val="1B2A4A"/>
                </a:solidFill>
                <a:latin typeface="Calibri"/>
              </a:rPr>
              <a:t>объяснимо — каждое решение доказано геометрией</a:t>
            </a:r>
          </a:p>
          <a:p>
            <a:pPr algn="l">
              <a:spcAft>
                <a:spcPts val="700"/>
              </a:spcAft>
              <a:buChar char="•"/>
            </a:pPr>
            <a:r>
              <a:rPr sz="1300" b="0" i="0">
                <a:solidFill>
                  <a:srgbClr val="1B2A4A"/>
                </a:solidFill>
                <a:latin typeface="Calibri"/>
              </a:rPr>
              <a:t>воспроизводимо — детерминизм зафиксирован</a:t>
            </a:r>
          </a:p>
          <a:p>
            <a:pPr algn="l">
              <a:spcAft>
                <a:spcPts val="700"/>
              </a:spcAft>
              <a:buChar char="•"/>
            </a:pPr>
            <a:r>
              <a:rPr sz="1300" b="0" i="0">
                <a:solidFill>
                  <a:srgbClr val="1B2A4A"/>
                </a:solidFill>
                <a:latin typeface="Calibri"/>
              </a:rPr>
              <a:t>не требует датасета и обучения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0" y="2148840"/>
            <a:ext cx="56692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1B2A4A"/>
                </a:solidFill>
                <a:latin typeface="Calibri"/>
              </a:rPr>
              <a:t>Единый контур из трёх частей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943600" y="2697480"/>
            <a:ext cx="5669280" cy="102412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CE4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6144768" y="2980944"/>
            <a:ext cx="457200" cy="457200"/>
          </a:xfrm>
          <a:prstGeom prst="ellipse">
            <a:avLst/>
          </a:prstGeom>
          <a:solidFill>
            <a:srgbClr val="18B8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144768" y="2980944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Cambria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766560" y="2825496"/>
            <a:ext cx="466344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50" b="1" i="0">
                <a:solidFill>
                  <a:srgbClr val="1B2A4A"/>
                </a:solidFill>
                <a:latin typeface="Calibri"/>
              </a:rPr>
              <a:t>Восприятие (RGB-D)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766560" y="3227832"/>
            <a:ext cx="4663440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0" i="0">
                <a:solidFill>
                  <a:srgbClr val="6B7B93"/>
                </a:solidFill>
                <a:latin typeface="Calibri"/>
              </a:rPr>
              <a:t>3 depth-камеры → облако точек → геометрия товара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943600" y="3867912"/>
            <a:ext cx="5669280" cy="102412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CE4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144768" y="4151376"/>
            <a:ext cx="457200" cy="457200"/>
          </a:xfrm>
          <a:prstGeom prst="ellipse">
            <a:avLst/>
          </a:prstGeom>
          <a:solidFill>
            <a:srgbClr val="2D7D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144768" y="4151376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Cambria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766560" y="3995928"/>
            <a:ext cx="466344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50" b="1" i="0">
                <a:solidFill>
                  <a:srgbClr val="1B2A4A"/>
                </a:solidFill>
                <a:latin typeface="Calibri"/>
              </a:rPr>
              <a:t>Классификация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766560" y="4398264"/>
            <a:ext cx="4663440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0" i="0">
                <a:solidFill>
                  <a:srgbClr val="6B7B93"/>
                </a:solidFill>
                <a:latin typeface="Calibri"/>
              </a:rPr>
              <a:t>габариты + «круг в сечении» → правило B / C / D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943600" y="5038344"/>
            <a:ext cx="5669280" cy="102412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CE4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144768" y="5321807"/>
            <a:ext cx="457200" cy="457200"/>
          </a:xfrm>
          <a:prstGeom prst="ellipse">
            <a:avLst/>
          </a:prstGeom>
          <a:solidFill>
            <a:srgbClr val="17B2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144768" y="5321807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Cambria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766560" y="5166359"/>
            <a:ext cx="466344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50" b="1" i="0">
                <a:solidFill>
                  <a:srgbClr val="1B2A4A"/>
                </a:solidFill>
                <a:latin typeface="Calibri"/>
              </a:rPr>
              <a:t>Исполнительная часть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766560" y="5568696"/>
            <a:ext cx="4663440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0" i="0">
                <a:solidFill>
                  <a:srgbClr val="6B7B93"/>
                </a:solidFill>
                <a:latin typeface="Calibri"/>
              </a:rPr>
              <a:t>накопитель-лоток (tilt-tray) → зона обработки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61520" cy="6858000"/>
          </a:xfrm>
          <a:prstGeom prst="rect">
            <a:avLst/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200" b="1" i="0">
                <a:solidFill>
                  <a:srgbClr val="1B2A4A"/>
                </a:solidFill>
                <a:latin typeface="Cambria"/>
              </a:rPr>
              <a:t>Логика классификации: приоритет правил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34440"/>
            <a:ext cx="5486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2D7DD2"/>
                </a:solidFill>
                <a:latin typeface="Calibri"/>
              </a:rPr>
              <a:t>Порядок принятия решения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737360"/>
            <a:ext cx="557784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CE4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847088"/>
            <a:ext cx="38404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50" b="1" i="0">
                <a:solidFill>
                  <a:srgbClr val="1B2A4A"/>
                </a:solidFill>
                <a:latin typeface="Calibri"/>
              </a:rPr>
              <a:t>Сначала габариты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2212848"/>
            <a:ext cx="4114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6B7B93"/>
                </a:solidFill>
                <a:latin typeface="Calibri"/>
              </a:rPr>
              <a:t>вне 10×10×10 … 450×320×320 мм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40680" y="1911095"/>
            <a:ext cx="548640" cy="548640"/>
          </a:xfrm>
          <a:prstGeom prst="roundRect">
            <a:avLst>
              <a:gd name="adj" fmla="val 15000"/>
            </a:avLst>
          </a:prstGeom>
          <a:solidFill>
            <a:srgbClr val="E457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40680" y="1911095"/>
            <a:ext cx="5486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400" b="1" i="0">
                <a:solidFill>
                  <a:srgbClr val="FFFFFF"/>
                </a:solidFill>
                <a:latin typeface="Cambria"/>
              </a:rPr>
              <a:t>C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2788920"/>
            <a:ext cx="557784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CE4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2898648"/>
            <a:ext cx="38404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50" b="1" i="0">
                <a:solidFill>
                  <a:srgbClr val="1B2A4A"/>
                </a:solidFill>
                <a:latin typeface="Calibri"/>
              </a:rPr>
              <a:t>Затем форма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3264408"/>
            <a:ext cx="4114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6B7B93"/>
                </a:solidFill>
                <a:latin typeface="Calibri"/>
              </a:rPr>
              <a:t>есть сечение с r_вп/R_оп ≥ 0.8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40680" y="2962656"/>
            <a:ext cx="548640" cy="548640"/>
          </a:xfrm>
          <a:prstGeom prst="roundRect">
            <a:avLst>
              <a:gd name="adj" fmla="val 15000"/>
            </a:avLst>
          </a:prstGeom>
          <a:solidFill>
            <a:srgbClr val="F5A5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40680" y="2962656"/>
            <a:ext cx="5486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400" b="1" i="0">
                <a:solidFill>
                  <a:srgbClr val="FFFFFF"/>
                </a:solidFill>
                <a:latin typeface="Cambria"/>
              </a:rPr>
              <a:t>D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3840479"/>
            <a:ext cx="557784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CE4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7240" y="3950207"/>
            <a:ext cx="38404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50" b="1" i="0">
                <a:solidFill>
                  <a:srgbClr val="1B2A4A"/>
                </a:solidFill>
                <a:latin typeface="Calibri"/>
              </a:rPr>
              <a:t>Иначе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" y="4315967"/>
            <a:ext cx="4114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6B7B93"/>
                </a:solidFill>
                <a:latin typeface="Calibri"/>
              </a:rPr>
              <a:t>проходит обе проверки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40680" y="4014215"/>
            <a:ext cx="548640" cy="548640"/>
          </a:xfrm>
          <a:prstGeom prst="roundRect">
            <a:avLst>
              <a:gd name="adj" fmla="val 15000"/>
            </a:avLst>
          </a:prstGeom>
          <a:solidFill>
            <a:srgbClr val="17B2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440680" y="4014215"/>
            <a:ext cx="5486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400" b="1" i="0">
                <a:solidFill>
                  <a:srgbClr val="FFFFFF"/>
                </a:solidFill>
                <a:latin typeface="Cambria"/>
              </a:rPr>
              <a:t>B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5029200"/>
            <a:ext cx="55778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i="1">
                <a:solidFill>
                  <a:srgbClr val="1B2A4A"/>
                </a:solidFill>
                <a:latin typeface="Calibri"/>
              </a:rPr>
              <a:t>Габаритная проверка приоритетнее формы: круглый, но негабаритный товар → C.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92240" y="1371600"/>
            <a:ext cx="5120640" cy="4480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E4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675120" y="1508760"/>
            <a:ext cx="47548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1B2A4A"/>
                </a:solidFill>
                <a:latin typeface="Calibri"/>
              </a:rPr>
              <a:t>Решение доказывается, а не декларируется</a:t>
            </a:r>
          </a:p>
        </p:txBody>
      </p:sp>
      <p:pic>
        <p:nvPicPr>
          <p:cNvPr id="23" name="Picture 22" descr="proof_sec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66560" y="1920240"/>
            <a:ext cx="4572000" cy="3493008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6675120" y="5486400"/>
            <a:ext cx="4846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0" i="0">
                <a:solidFill>
                  <a:srgbClr val="6B7B93"/>
                </a:solidFill>
                <a:latin typeface="Calibri"/>
              </a:rPr>
              <a:t>«Круг в сечении»: контур, вписанная и описанная окружности, коэффициент и порог 0.8.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61520" cy="6858000"/>
          </a:xfrm>
          <a:prstGeom prst="rect">
            <a:avLst/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200" b="1" i="0">
                <a:solidFill>
                  <a:srgbClr val="1B2A4A"/>
                </a:solidFill>
                <a:latin typeface="Cambria"/>
              </a:rPr>
              <a:t>Результат на тестовом наборе: 11 / 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97280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6B7B93"/>
                </a:solidFill>
                <a:latin typeface="Calibri"/>
              </a:rPr>
              <a:t>Набор содержит ловушки — все отработаны корректно.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600200"/>
            <a:ext cx="7040880" cy="384048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600200"/>
            <a:ext cx="283464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Объект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383280" y="1600200"/>
            <a:ext cx="228600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Габариты, мм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0" y="1600200"/>
            <a:ext cx="100584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r/R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75120" y="1600200"/>
            <a:ext cx="91440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Кат.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1984248"/>
            <a:ext cx="283464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1B2A4A"/>
                </a:solidFill>
                <a:latin typeface="Calibri"/>
              </a:rPr>
              <a:t>Бутылка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83280" y="1984248"/>
            <a:ext cx="228600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0" i="0">
                <a:solidFill>
                  <a:srgbClr val="1B2A4A"/>
                </a:solidFill>
                <a:latin typeface="Calibri"/>
              </a:rPr>
              <a:t>305×91×91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0" y="1984248"/>
            <a:ext cx="100584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0" i="0">
                <a:solidFill>
                  <a:srgbClr val="1B2A4A"/>
                </a:solidFill>
                <a:latin typeface="Calibri"/>
              </a:rPr>
              <a:t>1.00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75120" y="1984248"/>
            <a:ext cx="91440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 i="0">
                <a:solidFill>
                  <a:srgbClr val="F5A524"/>
                </a:solidFill>
                <a:latin typeface="Calibri"/>
              </a:rPr>
              <a:t>D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2368296"/>
            <a:ext cx="7040880" cy="384048"/>
          </a:xfrm>
          <a:prstGeom prst="rect">
            <a:avLst/>
          </a:prstGeom>
          <a:solidFill>
            <a:srgbClr val="E9EE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8640" y="2368296"/>
            <a:ext cx="283464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1B2A4A"/>
                </a:solidFill>
                <a:latin typeface="Calibri"/>
              </a:rPr>
              <a:t>Цилиндр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383280" y="2368296"/>
            <a:ext cx="228600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0" i="0">
                <a:solidFill>
                  <a:srgbClr val="1B2A4A"/>
                </a:solidFill>
                <a:latin typeface="Calibri"/>
              </a:rPr>
              <a:t>435×50×43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669280" y="2368296"/>
            <a:ext cx="100584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0" i="0">
                <a:solidFill>
                  <a:srgbClr val="1B2A4A"/>
                </a:solidFill>
                <a:latin typeface="Calibri"/>
              </a:rPr>
              <a:t>0.87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75120" y="2368296"/>
            <a:ext cx="91440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 i="0">
                <a:solidFill>
                  <a:srgbClr val="F5A524"/>
                </a:solidFill>
                <a:latin typeface="Calibri"/>
              </a:rPr>
              <a:t>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2752344"/>
            <a:ext cx="283464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1B2A4A"/>
                </a:solidFill>
                <a:latin typeface="Calibri"/>
              </a:rPr>
              <a:t>Мешок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383280" y="2752344"/>
            <a:ext cx="228600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0" i="0">
                <a:solidFill>
                  <a:srgbClr val="1B2A4A"/>
                </a:solidFill>
                <a:latin typeface="Calibri"/>
              </a:rPr>
              <a:t>202×176×170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669280" y="2752344"/>
            <a:ext cx="100584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0" i="0">
                <a:solidFill>
                  <a:srgbClr val="1B2A4A"/>
                </a:solidFill>
                <a:latin typeface="Calibri"/>
              </a:rPr>
              <a:t>0.89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75120" y="2752344"/>
            <a:ext cx="91440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 i="0">
                <a:solidFill>
                  <a:srgbClr val="F5A524"/>
                </a:solidFill>
                <a:latin typeface="Calibri"/>
              </a:rPr>
              <a:t>D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48640" y="3136391"/>
            <a:ext cx="7040880" cy="384048"/>
          </a:xfrm>
          <a:prstGeom prst="rect">
            <a:avLst/>
          </a:prstGeom>
          <a:solidFill>
            <a:srgbClr val="E9EE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48640" y="3136391"/>
            <a:ext cx="283464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1B2A4A"/>
                </a:solidFill>
                <a:latin typeface="Calibri"/>
              </a:rPr>
              <a:t>Тарелка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383280" y="3136391"/>
            <a:ext cx="228600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0" i="0">
                <a:solidFill>
                  <a:srgbClr val="1B2A4A"/>
                </a:solidFill>
                <a:latin typeface="Calibri"/>
              </a:rPr>
              <a:t>210×209×27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669280" y="3136391"/>
            <a:ext cx="100584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0" i="0">
                <a:solidFill>
                  <a:srgbClr val="1B2A4A"/>
                </a:solidFill>
                <a:latin typeface="Calibri"/>
              </a:rPr>
              <a:t>1.00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675120" y="3136391"/>
            <a:ext cx="91440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 i="0">
                <a:solidFill>
                  <a:srgbClr val="F5A524"/>
                </a:solidFill>
                <a:latin typeface="Calibri"/>
              </a:rPr>
              <a:t>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8640" y="3520440"/>
            <a:ext cx="283464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1B2A4A"/>
                </a:solidFill>
                <a:latin typeface="Calibri"/>
              </a:rPr>
              <a:t>Шлем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383280" y="3520440"/>
            <a:ext cx="228600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0" i="0">
                <a:solidFill>
                  <a:srgbClr val="1B2A4A"/>
                </a:solidFill>
                <a:latin typeface="Calibri"/>
              </a:rPr>
              <a:t>352×298×282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669280" y="3520440"/>
            <a:ext cx="100584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0" i="0">
                <a:solidFill>
                  <a:srgbClr val="1B2A4A"/>
                </a:solidFill>
                <a:latin typeface="Calibri"/>
              </a:rPr>
              <a:t>0.90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675120" y="3520440"/>
            <a:ext cx="91440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 i="0">
                <a:solidFill>
                  <a:srgbClr val="F5A524"/>
                </a:solidFill>
                <a:latin typeface="Calibri"/>
              </a:rPr>
              <a:t>D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48640" y="3904487"/>
            <a:ext cx="7040880" cy="384048"/>
          </a:xfrm>
          <a:prstGeom prst="rect">
            <a:avLst/>
          </a:prstGeom>
          <a:solidFill>
            <a:srgbClr val="E9EE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48640" y="3904487"/>
            <a:ext cx="283464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1B2A4A"/>
                </a:solidFill>
                <a:latin typeface="Calibri"/>
              </a:rPr>
              <a:t>ЛанчБокс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383280" y="3904487"/>
            <a:ext cx="228600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0" i="0">
                <a:solidFill>
                  <a:srgbClr val="1B2A4A"/>
                </a:solidFill>
                <a:latin typeface="Calibri"/>
              </a:rPr>
              <a:t>201×152×62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669280" y="3904487"/>
            <a:ext cx="100584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0" i="0">
                <a:solidFill>
                  <a:srgbClr val="1B2A4A"/>
                </a:solidFill>
                <a:latin typeface="Calibri"/>
              </a:rPr>
              <a:t>0.66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675120" y="3904487"/>
            <a:ext cx="91440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 i="0">
                <a:solidFill>
                  <a:srgbClr val="17B26A"/>
                </a:solidFill>
                <a:latin typeface="Calibri"/>
              </a:rPr>
              <a:t>B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48640" y="4288536"/>
            <a:ext cx="283464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1B2A4A"/>
                </a:solidFill>
                <a:latin typeface="Calibri"/>
              </a:rPr>
              <a:t>Короб 300×200×200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383280" y="4288536"/>
            <a:ext cx="228600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0" i="0">
                <a:solidFill>
                  <a:srgbClr val="1B2A4A"/>
                </a:solidFill>
                <a:latin typeface="Calibri"/>
              </a:rPr>
              <a:t>301×200×200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669280" y="4288536"/>
            <a:ext cx="100584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0" i="0">
                <a:solidFill>
                  <a:srgbClr val="1B2A4A"/>
                </a:solidFill>
                <a:latin typeface="Calibri"/>
              </a:rPr>
              <a:t>0.72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675120" y="4288536"/>
            <a:ext cx="91440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 i="0">
                <a:solidFill>
                  <a:srgbClr val="17B26A"/>
                </a:solidFill>
                <a:latin typeface="Calibri"/>
              </a:rPr>
              <a:t>B</a:t>
            </a:r>
          </a:p>
        </p:txBody>
      </p:sp>
      <p:sp>
        <p:nvSpPr>
          <p:cNvPr id="41" name="Rectangle 40"/>
          <p:cNvSpPr/>
          <p:nvPr/>
        </p:nvSpPr>
        <p:spPr>
          <a:xfrm>
            <a:off x="548640" y="4672583"/>
            <a:ext cx="7040880" cy="384048"/>
          </a:xfrm>
          <a:prstGeom prst="rect">
            <a:avLst/>
          </a:prstGeom>
          <a:solidFill>
            <a:srgbClr val="E9EE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548640" y="4672583"/>
            <a:ext cx="283464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1B2A4A"/>
                </a:solidFill>
                <a:latin typeface="Calibri"/>
              </a:rPr>
              <a:t>Моющее средство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383280" y="4672583"/>
            <a:ext cx="228600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0" i="0">
                <a:solidFill>
                  <a:srgbClr val="1B2A4A"/>
                </a:solidFill>
                <a:latin typeface="Calibri"/>
              </a:rPr>
              <a:t>280×260×179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669280" y="4672583"/>
            <a:ext cx="100584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0" i="0">
                <a:solidFill>
                  <a:srgbClr val="1B2A4A"/>
                </a:solidFill>
                <a:latin typeface="Calibri"/>
              </a:rPr>
              <a:t>0.73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675120" y="4672583"/>
            <a:ext cx="91440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 i="0">
                <a:solidFill>
                  <a:srgbClr val="17B26A"/>
                </a:solidFill>
                <a:latin typeface="Calibri"/>
              </a:rPr>
              <a:t>B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48640" y="5056631"/>
            <a:ext cx="283464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1B2A4A"/>
                </a:solidFill>
                <a:latin typeface="Calibri"/>
              </a:rPr>
              <a:t>Короб 400×400×300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3383280" y="5056631"/>
            <a:ext cx="228600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0" i="0">
                <a:solidFill>
                  <a:srgbClr val="1B2A4A"/>
                </a:solidFill>
                <a:latin typeface="Calibri"/>
              </a:rPr>
              <a:t>401×400×300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669280" y="5056631"/>
            <a:ext cx="100584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0" i="0">
                <a:solidFill>
                  <a:srgbClr val="1B2A4A"/>
                </a:solidFill>
                <a:latin typeface="Calibri"/>
              </a:rPr>
              <a:t>0.72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675120" y="5056631"/>
            <a:ext cx="91440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 i="0">
                <a:solidFill>
                  <a:srgbClr val="E4572E"/>
                </a:solidFill>
                <a:latin typeface="Calibri"/>
              </a:rPr>
              <a:t>C</a:t>
            </a:r>
          </a:p>
        </p:txBody>
      </p:sp>
      <p:sp>
        <p:nvSpPr>
          <p:cNvPr id="50" name="Rectangle 49"/>
          <p:cNvSpPr/>
          <p:nvPr/>
        </p:nvSpPr>
        <p:spPr>
          <a:xfrm>
            <a:off x="548640" y="5440680"/>
            <a:ext cx="7040880" cy="384048"/>
          </a:xfrm>
          <a:prstGeom prst="rect">
            <a:avLst/>
          </a:prstGeom>
          <a:solidFill>
            <a:srgbClr val="E9EE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548640" y="5440680"/>
            <a:ext cx="283464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1B2A4A"/>
                </a:solidFill>
                <a:latin typeface="Calibri"/>
              </a:rPr>
              <a:t>Пуфик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3383280" y="5440680"/>
            <a:ext cx="228600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0" i="0">
                <a:solidFill>
                  <a:srgbClr val="1B2A4A"/>
                </a:solidFill>
                <a:latin typeface="Calibri"/>
              </a:rPr>
              <a:t>489×489×264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669280" y="5440680"/>
            <a:ext cx="100584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0" i="0">
                <a:solidFill>
                  <a:srgbClr val="1B2A4A"/>
                </a:solidFill>
                <a:latin typeface="Calibri"/>
              </a:rPr>
              <a:t>1.00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675120" y="5440680"/>
            <a:ext cx="91440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 i="0">
                <a:solidFill>
                  <a:srgbClr val="E4572E"/>
                </a:solidFill>
                <a:latin typeface="Calibri"/>
              </a:rPr>
              <a:t>C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548640" y="5824728"/>
            <a:ext cx="283464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1B2A4A"/>
                </a:solidFill>
                <a:latin typeface="Calibri"/>
              </a:rPr>
              <a:t>Ручка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3383280" y="5824728"/>
            <a:ext cx="228600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0" i="0">
                <a:solidFill>
                  <a:srgbClr val="1B2A4A"/>
                </a:solidFill>
                <a:latin typeface="Calibri"/>
              </a:rPr>
              <a:t>148×13×9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5669280" y="5824728"/>
            <a:ext cx="100584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0" i="0">
                <a:solidFill>
                  <a:srgbClr val="1B2A4A"/>
                </a:solidFill>
                <a:latin typeface="Calibri"/>
              </a:rPr>
              <a:t>1.00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675120" y="5824728"/>
            <a:ext cx="91440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 i="0">
                <a:solidFill>
                  <a:srgbClr val="E4572E"/>
                </a:solidFill>
                <a:latin typeface="Calibri"/>
              </a:rPr>
              <a:t>C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8001000" y="1600200"/>
            <a:ext cx="3611880" cy="46177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E4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8229600" y="1783080"/>
            <a:ext cx="3200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2D7DD2"/>
                </a:solidFill>
                <a:latin typeface="Calibri"/>
              </a:rPr>
              <a:t>Разбор ловушек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8229600" y="2286000"/>
            <a:ext cx="3200400" cy="3840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700"/>
              </a:spcAft>
            </a:pPr>
            <a:r>
              <a:rPr sz="1300" b="1" i="0">
                <a:solidFill>
                  <a:srgbClr val="1B2A4A"/>
                </a:solidFill>
                <a:latin typeface="Calibri"/>
              </a:rPr>
              <a:t>Короб 400×400×300 → C</a:t>
            </a:r>
          </a:p>
          <a:p>
            <a:pPr algn="l">
              <a:spcAft>
                <a:spcPts val="700"/>
              </a:spcAft>
            </a:pPr>
            <a:r>
              <a:rPr sz="1200" b="0" i="0">
                <a:solidFill>
                  <a:srgbClr val="6B7B93"/>
                </a:solidFill>
                <a:latin typeface="Calibri"/>
              </a:rPr>
              <a:t>«обычная» коробка, но 400 &gt; 320 мм</a:t>
            </a:r>
          </a:p>
          <a:p>
            <a:pPr algn="l">
              <a:spcAft>
                <a:spcPts val="700"/>
              </a:spcAft>
            </a:pPr>
            <a:r>
              <a:rPr sz="1300" b="1" i="0">
                <a:solidFill>
                  <a:srgbClr val="1B2A4A"/>
                </a:solidFill>
                <a:latin typeface="Calibri"/>
              </a:rPr>
              <a:t>Пуфик → C</a:t>
            </a:r>
          </a:p>
          <a:p>
            <a:pPr algn="l">
              <a:spcAft>
                <a:spcPts val="700"/>
              </a:spcAft>
            </a:pPr>
            <a:r>
              <a:rPr sz="1200" b="0" i="0">
                <a:solidFill>
                  <a:srgbClr val="6B7B93"/>
                </a:solidFill>
                <a:latin typeface="Calibri"/>
              </a:rPr>
              <a:t>круглый, но 489 &gt; 320 — габарит бьёт форму</a:t>
            </a:r>
          </a:p>
          <a:p>
            <a:pPr algn="l">
              <a:spcAft>
                <a:spcPts val="700"/>
              </a:spcAft>
            </a:pPr>
            <a:r>
              <a:rPr sz="1300" b="1" i="0">
                <a:solidFill>
                  <a:srgbClr val="1B2A4A"/>
                </a:solidFill>
                <a:latin typeface="Calibri"/>
              </a:rPr>
              <a:t>Ручка → C</a:t>
            </a:r>
          </a:p>
          <a:p>
            <a:pPr algn="l">
              <a:spcAft>
                <a:spcPts val="700"/>
              </a:spcAft>
            </a:pPr>
            <a:r>
              <a:rPr sz="1200" b="0" i="0">
                <a:solidFill>
                  <a:srgbClr val="6B7B93"/>
                </a:solidFill>
                <a:latin typeface="Calibri"/>
              </a:rPr>
              <a:t>9 мм &lt; минимума 10 мм (нижняя граница)</a:t>
            </a:r>
          </a:p>
          <a:p>
            <a:pPr algn="l">
              <a:spcAft>
                <a:spcPts val="700"/>
              </a:spcAft>
            </a:pPr>
            <a:r>
              <a:rPr sz="1300" b="1" i="0">
                <a:solidFill>
                  <a:srgbClr val="1B2A4A"/>
                </a:solidFill>
                <a:latin typeface="Calibri"/>
              </a:rPr>
              <a:t>Мешок, Шлем → D</a:t>
            </a:r>
          </a:p>
          <a:p>
            <a:pPr algn="l">
              <a:spcAft>
                <a:spcPts val="700"/>
              </a:spcAft>
            </a:pPr>
            <a:r>
              <a:rPr sz="1200" b="0" i="0">
                <a:solidFill>
                  <a:srgbClr val="6B7B93"/>
                </a:solidFill>
                <a:latin typeface="Calibri"/>
              </a:rPr>
              <a:t>неочевидный круг в сечении — форма, а не имя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61520" cy="6858000"/>
          </a:xfrm>
          <a:prstGeom prst="rect">
            <a:avLst/>
          </a:prstGeom>
          <a:solidFill>
            <a:srgbClr val="0E1B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Cambria"/>
              </a:rPr>
              <a:t>RGB-D контур: система «видит» товар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97280"/>
            <a:ext cx="10972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C7D3E6"/>
                </a:solidFill>
                <a:latin typeface="Calibri"/>
              </a:rPr>
              <a:t>Замкнут контур «пиксели → категория». Три depth-камеры (верх + два бока 45°, как в промышленных DWS-тоннелях).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783080"/>
            <a:ext cx="2011680" cy="914400"/>
          </a:xfrm>
          <a:prstGeom prst="roundRect">
            <a:avLst>
              <a:gd name="adj" fmla="val 10000"/>
            </a:avLst>
          </a:prstGeom>
          <a:solidFill>
            <a:srgbClr val="16264A"/>
          </a:solidFill>
          <a:ln w="12700">
            <a:solidFill>
              <a:srgbClr val="18B8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783080"/>
            <a:ext cx="2011680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50" b="1" i="0">
                <a:solidFill>
                  <a:srgbClr val="FFFFFF"/>
                </a:solidFill>
                <a:latin typeface="Calibri"/>
              </a:rPr>
              <a:t>3 depth-камеры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560320" y="1783080"/>
            <a:ext cx="274320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000" b="0" i="0">
                <a:solidFill>
                  <a:srgbClr val="18B8C4"/>
                </a:solidFill>
                <a:latin typeface="Calibri"/>
              </a:rPr>
              <a:t>→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834640" y="1783080"/>
            <a:ext cx="2011680" cy="914400"/>
          </a:xfrm>
          <a:prstGeom prst="roundRect">
            <a:avLst>
              <a:gd name="adj" fmla="val 10000"/>
            </a:avLst>
          </a:prstGeom>
          <a:solidFill>
            <a:srgbClr val="16264A"/>
          </a:solidFill>
          <a:ln w="12700">
            <a:solidFill>
              <a:srgbClr val="18B8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1783080"/>
            <a:ext cx="2011680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50" b="1" i="0">
                <a:solidFill>
                  <a:srgbClr val="FFFFFF"/>
                </a:solidFill>
                <a:latin typeface="Calibri"/>
              </a:rPr>
              <a:t>облако точек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846320" y="1783080"/>
            <a:ext cx="274320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000" b="0" i="0">
                <a:solidFill>
                  <a:srgbClr val="18B8C4"/>
                </a:solidFill>
                <a:latin typeface="Calibri"/>
              </a:rPr>
              <a:t>→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120640" y="1783080"/>
            <a:ext cx="2011680" cy="914400"/>
          </a:xfrm>
          <a:prstGeom prst="roundRect">
            <a:avLst>
              <a:gd name="adj" fmla="val 10000"/>
            </a:avLst>
          </a:prstGeom>
          <a:solidFill>
            <a:srgbClr val="16264A"/>
          </a:solidFill>
          <a:ln w="12700">
            <a:solidFill>
              <a:srgbClr val="18B8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120640" y="1783080"/>
            <a:ext cx="2011680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50" b="1" i="0">
                <a:solidFill>
                  <a:srgbClr val="FFFFFF"/>
                </a:solidFill>
                <a:latin typeface="Calibri"/>
              </a:rPr>
              <a:t>сегментация от ленты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132320" y="1783080"/>
            <a:ext cx="274320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000" b="0" i="0">
                <a:solidFill>
                  <a:srgbClr val="18B8C4"/>
                </a:solidFill>
                <a:latin typeface="Calibri"/>
              </a:rPr>
              <a:t>→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406640" y="1783080"/>
            <a:ext cx="2011680" cy="914400"/>
          </a:xfrm>
          <a:prstGeom prst="roundRect">
            <a:avLst>
              <a:gd name="adj" fmla="val 10000"/>
            </a:avLst>
          </a:prstGeom>
          <a:solidFill>
            <a:srgbClr val="16264A"/>
          </a:solidFill>
          <a:ln w="12700">
            <a:solidFill>
              <a:srgbClr val="18B8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406640" y="1783080"/>
            <a:ext cx="2011680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50" b="1" i="0">
                <a:solidFill>
                  <a:srgbClr val="FFFFFF"/>
                </a:solidFill>
                <a:latin typeface="Calibri"/>
              </a:rPr>
              <a:t>габариты + круг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418320" y="1783080"/>
            <a:ext cx="274320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000" b="0" i="0">
                <a:solidFill>
                  <a:srgbClr val="18B8C4"/>
                </a:solidFill>
                <a:latin typeface="Calibri"/>
              </a:rPr>
              <a:t>→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692640" y="1783080"/>
            <a:ext cx="2011680" cy="914400"/>
          </a:xfrm>
          <a:prstGeom prst="roundRect">
            <a:avLst>
              <a:gd name="adj" fmla="val 10000"/>
            </a:avLst>
          </a:prstGeom>
          <a:solidFill>
            <a:srgbClr val="16264A"/>
          </a:solidFill>
          <a:ln w="12700">
            <a:solidFill>
              <a:srgbClr val="18B8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692640" y="1783080"/>
            <a:ext cx="2011680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50" b="1" i="0">
                <a:solidFill>
                  <a:srgbClr val="FFFFFF"/>
                </a:solidFill>
                <a:latin typeface="Calibri"/>
              </a:rPr>
              <a:t>правило B / C / 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2834640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i="1">
                <a:solidFill>
                  <a:srgbClr val="18B8C4"/>
                </a:solidFill>
                <a:latin typeface="Calibri"/>
              </a:rPr>
              <a:t>Алгоритмика классификации не меняется — тот же код, что и для STL; меняется только источник геометрии.</a:t>
            </a:r>
          </a:p>
        </p:txBody>
      </p:sp>
      <p:pic>
        <p:nvPicPr>
          <p:cNvPr id="20" name="Picture 19" descr="proof_dept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3429000"/>
            <a:ext cx="3108960" cy="2331720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548640" y="5806440"/>
            <a:ext cx="3108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50" b="0" i="0">
                <a:solidFill>
                  <a:srgbClr val="9FB0C9"/>
                </a:solidFill>
                <a:latin typeface="Calibri"/>
              </a:rPr>
              <a:t>depth-кадр верхней камеры</a:t>
            </a:r>
          </a:p>
        </p:txBody>
      </p:sp>
      <p:pic>
        <p:nvPicPr>
          <p:cNvPr id="22" name="Picture 21" descr="proof_clou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31920" y="3794760"/>
            <a:ext cx="7680960" cy="1600200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3931920" y="5440680"/>
            <a:ext cx="7680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50" b="0" i="0">
                <a:solidFill>
                  <a:srgbClr val="9FB0C9"/>
                </a:solidFill>
                <a:latin typeface="Calibri"/>
              </a:rPr>
              <a:t>облако точек (3 проекции) → эллипс сечения Цилиндра восстановлен: r/R = 0.99 → 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931920" y="5852160"/>
            <a:ext cx="7680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Устойчивость к ориентации товара: 55 / 55 измерений на 5 углах поворота.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61520" cy="6858000"/>
          </a:xfrm>
          <a:prstGeom prst="rect">
            <a:avLst/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B2A4A"/>
                </a:solidFill>
                <a:latin typeface="Cambria"/>
              </a:rPr>
              <a:t>Маршрутизация A/B/C/D и исполнительный узел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88720"/>
            <a:ext cx="4572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2D7DD2"/>
                </a:solidFill>
                <a:latin typeface="Calibri"/>
              </a:rPr>
              <a:t>Схема потока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737360"/>
            <a:ext cx="566928" cy="566928"/>
          </a:xfrm>
          <a:prstGeom prst="roundRect">
            <a:avLst>
              <a:gd name="adj" fmla="val 15000"/>
            </a:avLst>
          </a:prstGeom>
          <a:solidFill>
            <a:srgbClr val="6B7B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737360"/>
            <a:ext cx="566928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mbria"/>
              </a:rPr>
              <a:t>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34440" y="1737360"/>
            <a:ext cx="420624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50" b="0" i="0">
                <a:solidFill>
                  <a:srgbClr val="1B2A4A"/>
                </a:solidFill>
                <a:latin typeface="Calibri"/>
              </a:rPr>
              <a:t>подача: товар по конвейеру 1 м/с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606039"/>
            <a:ext cx="566928" cy="566928"/>
          </a:xfrm>
          <a:prstGeom prst="roundRect">
            <a:avLst>
              <a:gd name="adj" fmla="val 15000"/>
            </a:avLst>
          </a:prstGeom>
          <a:solidFill>
            <a:srgbClr val="17B2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2606039"/>
            <a:ext cx="566928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mbria"/>
              </a:rPr>
              <a:t>B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34440" y="2606039"/>
            <a:ext cx="420624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50" b="0" i="0">
                <a:solidFill>
                  <a:srgbClr val="1B2A4A"/>
                </a:solidFill>
                <a:latin typeface="Calibri"/>
              </a:rPr>
              <a:t>основной сортировщик (подходит)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3474720"/>
            <a:ext cx="566928" cy="566928"/>
          </a:xfrm>
          <a:prstGeom prst="roundRect">
            <a:avLst>
              <a:gd name="adj" fmla="val 15000"/>
            </a:avLst>
          </a:prstGeom>
          <a:solidFill>
            <a:srgbClr val="E457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3474720"/>
            <a:ext cx="566928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mbria"/>
              </a:rPr>
              <a:t>C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34440" y="3474720"/>
            <a:ext cx="420624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50" b="0" i="0">
                <a:solidFill>
                  <a:srgbClr val="1B2A4A"/>
                </a:solidFill>
                <a:latin typeface="Calibri"/>
              </a:rPr>
              <a:t>негабарит (ролл-кейдж)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4343400"/>
            <a:ext cx="566928" cy="566928"/>
          </a:xfrm>
          <a:prstGeom prst="roundRect">
            <a:avLst>
              <a:gd name="adj" fmla="val 15000"/>
            </a:avLst>
          </a:prstGeom>
          <a:solidFill>
            <a:srgbClr val="F5A5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8640" y="4343400"/>
            <a:ext cx="566928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mbria"/>
              </a:rPr>
              <a:t>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34440" y="4343400"/>
            <a:ext cx="420624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50" b="0" i="0">
                <a:solidFill>
                  <a:srgbClr val="1B2A4A"/>
                </a:solidFill>
                <a:latin typeface="Calibri"/>
              </a:rPr>
              <a:t>доупаковка / круг в сечении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5349240"/>
            <a:ext cx="49377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0" i="1">
                <a:solidFill>
                  <a:srgbClr val="1B2A4A"/>
                </a:solidFill>
                <a:latin typeface="Calibri"/>
              </a:rPr>
              <a:t>Товары B идут прямо; активно изымаются только C и D — это резко снижает требуемый темп узла.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760720" y="1280160"/>
            <a:ext cx="5852160" cy="49377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CE4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sim_overvie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97880" y="1417320"/>
            <a:ext cx="5577840" cy="3136392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5943600" y="4617720"/>
            <a:ext cx="5486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1B2A4A"/>
                </a:solidFill>
                <a:latin typeface="Calibri"/>
              </a:rPr>
              <a:t>Накопитель-лоток (tilt-tray): приём → поворот на угол зоны → опрокидывание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43600" y="5029200"/>
            <a:ext cx="54864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6B7B93"/>
                </a:solidFill>
                <a:latin typeface="Calibri"/>
              </a:rPr>
              <a:t>Товар неподвижен в момент поворота — исключён перелёт крупного товара через борт. Круглые тела гасит V-образное ложе и торцевой флап.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61520" cy="6858000"/>
          </a:xfrm>
          <a:prstGeom prst="rect">
            <a:avLst/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B2A4A"/>
                </a:solidFill>
                <a:latin typeface="Cambria"/>
              </a:rPr>
              <a:t>Инженерная проработка: отказ → решение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97280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6B7B93"/>
                </a:solidFill>
                <a:latin typeface="Calibri"/>
              </a:rPr>
              <a:t>Каждый отказ, найденный в симуляции, превращён в конструктивное решение.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600200"/>
            <a:ext cx="5394960" cy="822960"/>
          </a:xfrm>
          <a:prstGeom prst="roundRect">
            <a:avLst>
              <a:gd name="adj" fmla="val 8000"/>
            </a:avLst>
          </a:prstGeom>
          <a:solidFill>
            <a:srgbClr val="FB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600200"/>
            <a:ext cx="502920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50" b="0" i="0">
                <a:solidFill>
                  <a:srgbClr val="8A2B1A"/>
                </a:solidFill>
                <a:latin typeface="Calibri"/>
              </a:rPr>
              <a:t>Крупный товар перелетает борт при повороте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0" y="1600200"/>
            <a:ext cx="45720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800" b="1" i="0">
                <a:solidFill>
                  <a:srgbClr val="6B7B93"/>
                </a:solidFill>
                <a:latin typeface="Calibri"/>
              </a:rPr>
              <a:t>→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0" y="1600200"/>
            <a:ext cx="5212080" cy="822960"/>
          </a:xfrm>
          <a:prstGeom prst="roundRect">
            <a:avLst>
              <a:gd name="adj" fmla="val 8000"/>
            </a:avLst>
          </a:prstGeom>
          <a:solidFill>
            <a:srgbClr val="E7F6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0" y="1600200"/>
            <a:ext cx="484632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50" b="0" i="0">
                <a:solidFill>
                  <a:srgbClr val="12643B"/>
                </a:solidFill>
                <a:latin typeface="Calibri"/>
              </a:rPr>
              <a:t>tilt-tray: приём → стоп → поворот → опрокидывание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2532888"/>
            <a:ext cx="5394960" cy="822960"/>
          </a:xfrm>
          <a:prstGeom prst="roundRect">
            <a:avLst>
              <a:gd name="adj" fmla="val 8000"/>
            </a:avLst>
          </a:prstGeom>
          <a:solidFill>
            <a:srgbClr val="FB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2532888"/>
            <a:ext cx="502920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50" b="0" i="0">
                <a:solidFill>
                  <a:srgbClr val="8A2B1A"/>
                </a:solidFill>
                <a:latin typeface="Calibri"/>
              </a:rPr>
              <a:t>Круглый товар прострел / качение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0" y="2532888"/>
            <a:ext cx="45720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800" b="1" i="0">
                <a:solidFill>
                  <a:srgbClr val="6B7B93"/>
                </a:solidFill>
                <a:latin typeface="Calibri"/>
              </a:rPr>
              <a:t>→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0" y="2532888"/>
            <a:ext cx="5212080" cy="822960"/>
          </a:xfrm>
          <a:prstGeom prst="roundRect">
            <a:avLst>
              <a:gd name="adj" fmla="val 8000"/>
            </a:avLst>
          </a:prstGeom>
          <a:solidFill>
            <a:srgbClr val="E7F6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83680" y="2532888"/>
            <a:ext cx="484632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50" b="0" i="0">
                <a:solidFill>
                  <a:srgbClr val="12643B"/>
                </a:solidFill>
                <a:latin typeface="Calibri"/>
              </a:rPr>
              <a:t>V-образное ложе + торцевой флап-ловушка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3465576"/>
            <a:ext cx="5394960" cy="822960"/>
          </a:xfrm>
          <a:prstGeom prst="roundRect">
            <a:avLst>
              <a:gd name="adj" fmla="val 8000"/>
            </a:avLst>
          </a:prstGeom>
          <a:solidFill>
            <a:srgbClr val="FB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20" y="3465576"/>
            <a:ext cx="502920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50" b="0" i="0">
                <a:solidFill>
                  <a:srgbClr val="8A2B1A"/>
                </a:solidFill>
                <a:latin typeface="Calibri"/>
              </a:rPr>
              <a:t>Тонкий товар (9 мм) в щель лента/лоток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0" y="3465576"/>
            <a:ext cx="45720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800" b="1" i="0">
                <a:solidFill>
                  <a:srgbClr val="6B7B93"/>
                </a:solidFill>
                <a:latin typeface="Calibri"/>
              </a:rPr>
              <a:t>→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0" y="3465576"/>
            <a:ext cx="5212080" cy="822960"/>
          </a:xfrm>
          <a:prstGeom prst="roundRect">
            <a:avLst>
              <a:gd name="adj" fmla="val 8000"/>
            </a:avLst>
          </a:prstGeom>
          <a:solidFill>
            <a:srgbClr val="E7F6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83680" y="3465576"/>
            <a:ext cx="484632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50" b="0" i="0">
                <a:solidFill>
                  <a:srgbClr val="12643B"/>
                </a:solidFill>
                <a:latin typeface="Calibri"/>
              </a:rPr>
              <a:t>мостик-переходник + щелевой отсев в C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48640" y="4398264"/>
            <a:ext cx="5394960" cy="822960"/>
          </a:xfrm>
          <a:prstGeom prst="roundRect">
            <a:avLst>
              <a:gd name="adj" fmla="val 8000"/>
            </a:avLst>
          </a:prstGeom>
          <a:solidFill>
            <a:srgbClr val="FB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31520" y="4398264"/>
            <a:ext cx="502920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50" b="0" i="0">
                <a:solidFill>
                  <a:srgbClr val="8A2B1A"/>
                </a:solidFill>
                <a:latin typeface="Calibri"/>
              </a:rPr>
              <a:t>Высокий круглый скатывается с ленты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943600" y="4398264"/>
            <a:ext cx="45720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800" b="1" i="0">
                <a:solidFill>
                  <a:srgbClr val="6B7B93"/>
                </a:solidFill>
                <a:latin typeface="Calibri"/>
              </a:rPr>
              <a:t>→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400800" y="4398264"/>
            <a:ext cx="5212080" cy="822960"/>
          </a:xfrm>
          <a:prstGeom prst="roundRect">
            <a:avLst>
              <a:gd name="adj" fmla="val 8000"/>
            </a:avLst>
          </a:prstGeom>
          <a:solidFill>
            <a:srgbClr val="E7F6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583680" y="4398264"/>
            <a:ext cx="484632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50" b="0" i="0">
                <a:solidFill>
                  <a:srgbClr val="12643B"/>
                </a:solidFill>
                <a:latin typeface="Calibri"/>
              </a:rPr>
              <a:t>высокие борта разгонного участка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48640" y="5330952"/>
            <a:ext cx="5394960" cy="822960"/>
          </a:xfrm>
          <a:prstGeom prst="roundRect">
            <a:avLst>
              <a:gd name="adj" fmla="val 8000"/>
            </a:avLst>
          </a:prstGeom>
          <a:solidFill>
            <a:srgbClr val="FB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31520" y="5330952"/>
            <a:ext cx="502920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50" b="0" i="0">
                <a:solidFill>
                  <a:srgbClr val="8A2B1A"/>
                </a:solidFill>
                <a:latin typeface="Calibri"/>
              </a:rPr>
              <a:t>Плоский товар укатывается мимо кейджа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943600" y="5330952"/>
            <a:ext cx="45720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800" b="1" i="0">
                <a:solidFill>
                  <a:srgbClr val="6B7B93"/>
                </a:solidFill>
                <a:latin typeface="Calibri"/>
              </a:rPr>
              <a:t>→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400800" y="5330952"/>
            <a:ext cx="5212080" cy="822960"/>
          </a:xfrm>
          <a:prstGeom prst="roundRect">
            <a:avLst>
              <a:gd name="adj" fmla="val 8000"/>
            </a:avLst>
          </a:prstGeom>
          <a:solidFill>
            <a:srgbClr val="E7F6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583680" y="5330952"/>
            <a:ext cx="484632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50" b="0" i="0">
                <a:solidFill>
                  <a:srgbClr val="12643B"/>
                </a:solidFill>
                <a:latin typeface="Calibri"/>
              </a:rPr>
              <a:t>направляющие юбки-каналы к зонам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61520" cy="6858000"/>
          </a:xfrm>
          <a:prstGeom prst="rect">
            <a:avLst/>
          </a:prstGeom>
          <a:solidFill>
            <a:srgbClr val="0E1B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Cambria"/>
              </a:rPr>
              <a:t>Подтверждение работоспособности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43000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C7D3E6"/>
                </a:solidFill>
                <a:latin typeface="Calibri"/>
              </a:rPr>
              <a:t>Всё проверяется экспертом покомпонентно: код, логи (CSV), визуализации, видео, тесты.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874519"/>
            <a:ext cx="2606040" cy="1920240"/>
          </a:xfrm>
          <a:prstGeom prst="roundRect">
            <a:avLst>
              <a:gd name="adj" fmla="val 10000"/>
            </a:avLst>
          </a:prstGeom>
          <a:solidFill>
            <a:srgbClr val="1626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2103120"/>
            <a:ext cx="224028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000" b="1" i="0">
                <a:solidFill>
                  <a:srgbClr val="18B8C4"/>
                </a:solidFill>
                <a:latin typeface="Cambria"/>
              </a:rPr>
              <a:t>11/11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971800"/>
            <a:ext cx="224028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0" i="0">
                <a:solidFill>
                  <a:srgbClr val="C7D3E6"/>
                </a:solidFill>
                <a:latin typeface="Calibri"/>
              </a:rPr>
              <a:t>классификация набора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383280" y="1874519"/>
            <a:ext cx="2606040" cy="1920240"/>
          </a:xfrm>
          <a:prstGeom prst="roundRect">
            <a:avLst>
              <a:gd name="adj" fmla="val 10000"/>
            </a:avLst>
          </a:prstGeom>
          <a:solidFill>
            <a:srgbClr val="1626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566160" y="2103120"/>
            <a:ext cx="224028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000" b="1" i="0">
                <a:solidFill>
                  <a:srgbClr val="18B8C4"/>
                </a:solidFill>
                <a:latin typeface="Cambria"/>
              </a:rPr>
              <a:t>11/11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566160" y="2971800"/>
            <a:ext cx="224028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0" i="0">
                <a:solidFill>
                  <a:srgbClr val="C7D3E6"/>
                </a:solidFill>
                <a:latin typeface="Calibri"/>
              </a:rPr>
              <a:t>RGB-D восприятие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1874519"/>
            <a:ext cx="2606040" cy="1920240"/>
          </a:xfrm>
          <a:prstGeom prst="roundRect">
            <a:avLst>
              <a:gd name="adj" fmla="val 10000"/>
            </a:avLst>
          </a:prstGeom>
          <a:solidFill>
            <a:srgbClr val="1626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0" y="2103120"/>
            <a:ext cx="224028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000" b="1" i="0">
                <a:solidFill>
                  <a:srgbClr val="2D7DD2"/>
                </a:solidFill>
                <a:latin typeface="Cambria"/>
              </a:rPr>
              <a:t>55/55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2971800"/>
            <a:ext cx="224028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0" i="0">
                <a:solidFill>
                  <a:srgbClr val="C7D3E6"/>
                </a:solidFill>
                <a:latin typeface="Calibri"/>
              </a:rPr>
              <a:t>устойчивость к ориентации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052560" y="1874519"/>
            <a:ext cx="2606040" cy="1920240"/>
          </a:xfrm>
          <a:prstGeom prst="roundRect">
            <a:avLst>
              <a:gd name="adj" fmla="val 10000"/>
            </a:avLst>
          </a:prstGeom>
          <a:solidFill>
            <a:srgbClr val="1626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235440" y="2103120"/>
            <a:ext cx="224028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000" b="1" i="0">
                <a:solidFill>
                  <a:srgbClr val="17B26A"/>
                </a:solidFill>
                <a:latin typeface="Cambria"/>
              </a:rPr>
              <a:t>11/11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235440" y="2971800"/>
            <a:ext cx="224028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0" i="0">
                <a:solidFill>
                  <a:srgbClr val="C7D3E6"/>
                </a:solidFill>
                <a:latin typeface="Calibri"/>
              </a:rPr>
              <a:t>маршрутизация в симуляции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8640" y="4023360"/>
            <a:ext cx="2606040" cy="1920240"/>
          </a:xfrm>
          <a:prstGeom prst="roundRect">
            <a:avLst>
              <a:gd name="adj" fmla="val 10000"/>
            </a:avLst>
          </a:prstGeom>
          <a:solidFill>
            <a:srgbClr val="1626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1520" y="4251960"/>
            <a:ext cx="224028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000" b="1" i="0">
                <a:solidFill>
                  <a:srgbClr val="17B26A"/>
                </a:solidFill>
                <a:latin typeface="Cambria"/>
              </a:rPr>
              <a:t>33/33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5120640"/>
            <a:ext cx="224028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0" i="0">
                <a:solidFill>
                  <a:srgbClr val="C7D3E6"/>
                </a:solidFill>
                <a:latin typeface="Calibri"/>
              </a:rPr>
              <a:t>стресс-прогон подачи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383280" y="4023360"/>
            <a:ext cx="2606040" cy="1920240"/>
          </a:xfrm>
          <a:prstGeom prst="roundRect">
            <a:avLst>
              <a:gd name="adj" fmla="val 10000"/>
            </a:avLst>
          </a:prstGeom>
          <a:solidFill>
            <a:srgbClr val="1626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566160" y="4251960"/>
            <a:ext cx="224028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000" b="1" i="0">
                <a:solidFill>
                  <a:srgbClr val="F5A524"/>
                </a:solidFill>
                <a:latin typeface="Cambria"/>
              </a:rPr>
              <a:t>5.3 с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566160" y="5120640"/>
            <a:ext cx="224028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0" i="0">
                <a:solidFill>
                  <a:srgbClr val="C7D3E6"/>
                </a:solidFill>
                <a:latin typeface="Calibri"/>
              </a:rPr>
              <a:t>cycle time (5.8 макс)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217920" y="4023360"/>
            <a:ext cx="2606040" cy="1920240"/>
          </a:xfrm>
          <a:prstGeom prst="roundRect">
            <a:avLst>
              <a:gd name="adj" fmla="val 10000"/>
            </a:avLst>
          </a:prstGeom>
          <a:solidFill>
            <a:srgbClr val="1626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00800" y="4251960"/>
            <a:ext cx="224028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000" b="1" i="0">
                <a:solidFill>
                  <a:srgbClr val="2D7DD2"/>
                </a:solidFill>
                <a:latin typeface="Cambria"/>
              </a:rPr>
              <a:t>35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0" y="5120640"/>
            <a:ext cx="224028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0" i="0">
                <a:solidFill>
                  <a:srgbClr val="C7D3E6"/>
                </a:solidFill>
                <a:latin typeface="Calibri"/>
              </a:rPr>
              <a:t>юнит-тестов проходят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052560" y="4023360"/>
            <a:ext cx="2606040" cy="1920240"/>
          </a:xfrm>
          <a:prstGeom prst="roundRect">
            <a:avLst>
              <a:gd name="adj" fmla="val 10000"/>
            </a:avLst>
          </a:prstGeom>
          <a:solidFill>
            <a:srgbClr val="1626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235440" y="4251960"/>
            <a:ext cx="224028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000" b="1" i="0">
                <a:solidFill>
                  <a:srgbClr val="18B8C4"/>
                </a:solidFill>
                <a:latin typeface="Cambria"/>
              </a:rPr>
              <a:t>100%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235440" y="5120640"/>
            <a:ext cx="224028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0" i="0">
                <a:solidFill>
                  <a:srgbClr val="C7D3E6"/>
                </a:solidFill>
                <a:latin typeface="Calibri"/>
              </a:rPr>
              <a:t>воспроизводимо, ПО из перечня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61520" cy="6858000"/>
          </a:xfrm>
          <a:prstGeom prst="rect">
            <a:avLst/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200" b="1" i="0">
                <a:solidFill>
                  <a:srgbClr val="1B2A4A"/>
                </a:solidFill>
                <a:latin typeface="Cambria"/>
              </a:rPr>
              <a:t>Инструменты и почему они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97280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6B7B93"/>
                </a:solidFill>
                <a:latin typeface="Calibri"/>
              </a:rPr>
              <a:t>Всё ПО — из перечня допустимого; результаты в нейтральных форматах (CSV, PNG, MP4, STL).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691640"/>
            <a:ext cx="11064240" cy="9601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CE4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777240" y="1938528"/>
            <a:ext cx="457200" cy="457200"/>
          </a:xfrm>
          <a:prstGeom prst="ellipse">
            <a:avLst/>
          </a:prstGeom>
          <a:solidFill>
            <a:srgbClr val="17B2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463040" y="1691640"/>
            <a:ext cx="3657600" cy="9601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1B2A4A"/>
                </a:solidFill>
                <a:latin typeface="Calibri"/>
              </a:rPr>
              <a:t>MuJoCo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212080" y="1691640"/>
            <a:ext cx="6217920" cy="9601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50" b="0" i="0">
                <a:solidFill>
                  <a:srgbClr val="6B7B93"/>
                </a:solidFill>
                <a:latin typeface="Calibri"/>
              </a:rPr>
              <a:t>физический цифровой двойник участка: контакты, трение, приводы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2807208"/>
            <a:ext cx="11064240" cy="9601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CE4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777240" y="3054096"/>
            <a:ext cx="457200" cy="457200"/>
          </a:xfrm>
          <a:prstGeom prst="ellipse">
            <a:avLst/>
          </a:prstGeom>
          <a:solidFill>
            <a:srgbClr val="2D7D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463040" y="2807208"/>
            <a:ext cx="3657600" cy="9601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1B2A4A"/>
                </a:solidFill>
                <a:latin typeface="Calibri"/>
              </a:rPr>
              <a:t>trimesh + shapely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212080" y="2807208"/>
            <a:ext cx="6217920" cy="9601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50" b="0" i="0">
                <a:solidFill>
                  <a:srgbClr val="6B7B93"/>
                </a:solidFill>
                <a:latin typeface="Calibri"/>
              </a:rPr>
              <a:t>OBB-габариты, сечения, вписанная/описанная окружности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3922776"/>
            <a:ext cx="11064240" cy="9601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CE4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777240" y="4169664"/>
            <a:ext cx="457200" cy="457200"/>
          </a:xfrm>
          <a:prstGeom prst="ellipse">
            <a:avLst/>
          </a:prstGeom>
          <a:solidFill>
            <a:srgbClr val="18B8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463040" y="3922776"/>
            <a:ext cx="3657600" cy="9601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1B2A4A"/>
                </a:solidFill>
                <a:latin typeface="Calibri"/>
              </a:rPr>
              <a:t>depth-камеры + SciPy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212080" y="3922776"/>
            <a:ext cx="6217920" cy="9601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50" b="0" i="0">
                <a:solidFill>
                  <a:srgbClr val="6B7B93"/>
                </a:solidFill>
                <a:latin typeface="Calibri"/>
              </a:rPr>
              <a:t>RGB-D: облако точек, фильтры, аппроксимация эллипса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8640" y="5038344"/>
            <a:ext cx="11064240" cy="9601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CE4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777240" y="5285231"/>
            <a:ext cx="457200" cy="457200"/>
          </a:xfrm>
          <a:prstGeom prst="ellipse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463040" y="5038344"/>
            <a:ext cx="3657600" cy="9601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1B2A4A"/>
                </a:solidFill>
                <a:latin typeface="Calibri"/>
              </a:rPr>
              <a:t>Python + pytest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212080" y="5038344"/>
            <a:ext cx="6217920" cy="9601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50" b="0" i="0">
                <a:solidFill>
                  <a:srgbClr val="6B7B93"/>
                </a:solidFill>
                <a:latin typeface="Calibri"/>
              </a:rPr>
              <a:t>детерминированный классификатор и 35 юнит-тестов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61520" cy="6858000"/>
          </a:xfrm>
          <a:prstGeom prst="rect">
            <a:avLst/>
          </a:prstGeom>
          <a:solidFill>
            <a:srgbClr val="0E1B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Cambria"/>
              </a:rPr>
              <a:t>Ограничения и развитие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371600"/>
            <a:ext cx="5486400" cy="4754880"/>
          </a:xfrm>
          <a:prstGeom prst="roundRect">
            <a:avLst>
              <a:gd name="adj" fmla="val 5000"/>
            </a:avLst>
          </a:prstGeom>
          <a:solidFill>
            <a:srgbClr val="1626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554480"/>
            <a:ext cx="5029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F5A524"/>
                </a:solidFill>
                <a:latin typeface="Calibri"/>
              </a:rPr>
              <a:t>Ограничения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2148840"/>
            <a:ext cx="4846320" cy="374903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0"/>
              </a:spcAft>
              <a:buChar char="•"/>
            </a:pPr>
            <a:r>
              <a:rPr sz="1400" b="0" i="0">
                <a:solidFill>
                  <a:srgbClr val="E4EAF3"/>
                </a:solidFill>
                <a:latin typeface="Calibri"/>
              </a:rPr>
              <a:t>лента моделируется кинематически</a:t>
            </a:r>
          </a:p>
          <a:p>
            <a:pPr algn="l">
              <a:spcAft>
                <a:spcPts val="1000"/>
              </a:spcAft>
              <a:buChar char="•"/>
            </a:pPr>
            <a:r>
              <a:rPr sz="1400" b="0" i="0">
                <a:solidFill>
                  <a:srgbClr val="E4EAF3"/>
                </a:solidFill>
                <a:latin typeface="Calibri"/>
              </a:rPr>
              <a:t>решение цифровое — физический прототип в планах</a:t>
            </a:r>
          </a:p>
          <a:p>
            <a:pPr algn="l">
              <a:spcAft>
                <a:spcPts val="1000"/>
              </a:spcAft>
              <a:buChar char="•"/>
            </a:pPr>
            <a:r>
              <a:rPr sz="1400" b="0" i="0">
                <a:solidFill>
                  <a:srgbClr val="E4EAF3"/>
                </a:solidFill>
                <a:latin typeface="Calibri"/>
              </a:rPr>
              <a:t>прозрачные/зеркальные товары требуют доработки сенсорики</a:t>
            </a:r>
          </a:p>
          <a:p>
            <a:pPr algn="l">
              <a:spcAft>
                <a:spcPts val="1000"/>
              </a:spcAft>
              <a:buChar char="•"/>
            </a:pPr>
            <a:r>
              <a:rPr sz="1400" b="0" i="0">
                <a:solidFill>
                  <a:srgbClr val="E4EAF3"/>
                </a:solidFill>
                <a:latin typeface="Calibri"/>
              </a:rPr>
              <a:t>поток плотнее cycle time → каскад лотков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9360" y="1371600"/>
            <a:ext cx="5303520" cy="4754880"/>
          </a:xfrm>
          <a:prstGeom prst="roundRect">
            <a:avLst>
              <a:gd name="adj" fmla="val 5000"/>
            </a:avLst>
          </a:prstGeom>
          <a:solidFill>
            <a:srgbClr val="1626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37960" y="1554480"/>
            <a:ext cx="48463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18B8C4"/>
                </a:solidFill>
                <a:latin typeface="Calibri"/>
              </a:rPr>
              <a:t>Развитие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29400" y="2148840"/>
            <a:ext cx="4846320" cy="374903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0"/>
              </a:spcAft>
              <a:buChar char="•"/>
            </a:pPr>
            <a:r>
              <a:rPr sz="1400" b="0" i="0">
                <a:solidFill>
                  <a:srgbClr val="E4EAF3"/>
                </a:solidFill>
                <a:latin typeface="Calibri"/>
              </a:rPr>
              <a:t>перенос RGB-D-контура на физическую камеру (алгоритмика та же)</a:t>
            </a:r>
          </a:p>
          <a:p>
            <a:pPr algn="l">
              <a:spcAft>
                <a:spcPts val="1000"/>
              </a:spcAft>
              <a:buChar char="•"/>
            </a:pPr>
            <a:r>
              <a:rPr sz="1400" b="0" i="0">
                <a:solidFill>
                  <a:srgbClr val="E4EAF3"/>
                </a:solidFill>
                <a:latin typeface="Calibri"/>
              </a:rPr>
              <a:t>физический узел: сервоприводный 3-позиционный лоток</a:t>
            </a:r>
          </a:p>
          <a:p>
            <a:pPr algn="l">
              <a:spcAft>
                <a:spcPts val="1000"/>
              </a:spcAft>
              <a:buChar char="•"/>
            </a:pPr>
            <a:r>
              <a:rPr sz="1400" b="0" i="0">
                <a:solidFill>
                  <a:srgbClr val="E4EAF3"/>
                </a:solidFill>
                <a:latin typeface="Calibri"/>
              </a:rPr>
              <a:t>дискретно-событийная модель потока (AnyLogic)</a:t>
            </a:r>
          </a:p>
          <a:p>
            <a:pPr algn="l">
              <a:spcAft>
                <a:spcPts val="1000"/>
              </a:spcAft>
              <a:buChar char="•"/>
            </a:pPr>
            <a:r>
              <a:rPr sz="1400" b="0" i="0">
                <a:solidFill>
                  <a:srgbClr val="E4EAF3"/>
                </a:solidFill>
                <a:latin typeface="Calibri"/>
              </a:rPr>
              <a:t>каскад/параллельные лотки для масштабирования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